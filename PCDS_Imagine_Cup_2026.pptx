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/>
            </a:pPr>
            <a:r>
              <a:t>PCDS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Predictive Cyber Defence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"Stop attacks before they start"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Powered by Microsoft Azure AI | Imagine Cup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Every 39 seconds, a business loses $4.45M to a cyberattack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$4.45M - Average cost of data breach (IBM 2024)</a:t>
            </a:r>
          </a:p>
          <a:p>
            <a:pPr>
              <a:spcAft>
                <a:spcPts val="1200"/>
              </a:spcAft>
              <a:defRPr sz="1800"/>
            </a:pPr>
            <a:r>
              <a:t>277 days - Average time to identify a breach</a:t>
            </a:r>
          </a:p>
          <a:p>
            <a:pPr>
              <a:spcAft>
                <a:spcPts val="1200"/>
              </a:spcAft>
              <a:defRPr sz="1800"/>
            </a:pPr>
            <a:r>
              <a:t>65% - Security analysts experiencing burnout</a:t>
            </a:r>
          </a:p>
          <a:p>
            <a:pPr>
              <a:spcAft>
                <a:spcPts val="1200"/>
              </a:spcAft>
              <a:defRPr sz="1800"/>
            </a:pPr>
            <a:r>
              <a:t>10,000+ - Daily alerts, 95% ignored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The Root Cause:</a:t>
            </a:r>
          </a:p>
          <a:p>
            <a:pPr>
              <a:spcAft>
                <a:spcPts val="1200"/>
              </a:spcAft>
              <a:defRPr sz="1800"/>
            </a:pPr>
            <a:r>
              <a:t>Traditional security tools are REACTIVE.</a:t>
            </a:r>
          </a:p>
          <a:p>
            <a:pPr>
              <a:spcAft>
                <a:spcPts val="1200"/>
              </a:spcAft>
              <a:defRPr sz="1800"/>
            </a:pPr>
            <a:r>
              <a:t>They tell you what happened - after the damage is done.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Real-World Scenario: Colonial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May 2021: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2:47 AM - Attacker enters network with stolen VPN password</a:t>
            </a:r>
          </a:p>
          <a:p>
            <a:pPr>
              <a:spcAft>
                <a:spcPts val="1200"/>
              </a:spcAft>
              <a:defRPr sz="1800"/>
            </a:pPr>
            <a:r>
              <a:t>Next 6 hours - 100GB encrypted, SIEM completely silent</a:t>
            </a:r>
          </a:p>
          <a:p>
            <a:pPr>
              <a:spcAft>
                <a:spcPts val="1200"/>
              </a:spcAft>
              <a:defRPr sz="1800"/>
            </a:pPr>
            <a:r>
              <a:t>Morning - 45% of East Coast fuel supply offline</a:t>
            </a:r>
          </a:p>
          <a:p>
            <a:pPr>
              <a:spcAft>
                <a:spcPts val="1200"/>
              </a:spcAft>
              <a:defRPr sz="1800"/>
            </a:pPr>
            <a:r>
              <a:t>Ransom paid: $4.4 million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What if their system saw this coming before execution?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That's what PCDS is building.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Our Solution: PCDS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Predictive Cyber Defence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ML Ensemble - 5 models, 88.3% accuracy</a:t>
            </a:r>
          </a:p>
          <a:p>
            <a:pPr>
              <a:spcAft>
                <a:spcPts val="1200"/>
              </a:spcAft>
              <a:defRPr sz="1800"/>
            </a:pPr>
            <a:r>
              <a:t>Azure AI Co-pilot - Natural language threat explanations</a:t>
            </a:r>
          </a:p>
          <a:p>
            <a:pPr>
              <a:spcAft>
                <a:spcPts val="1200"/>
              </a:spcAft>
              <a:defRPr sz="1800"/>
            </a:pPr>
            <a:r>
              <a:t>Kill Chain Detection - Catches attacks at reconnaissance</a:t>
            </a:r>
          </a:p>
          <a:p>
            <a:pPr>
              <a:spcAft>
                <a:spcPts val="1200"/>
              </a:spcAft>
              <a:defRPr sz="1800"/>
            </a:pPr>
            <a:r>
              <a:t>SOAR Automation - Automated response playbooks</a:t>
            </a:r>
          </a:p>
          <a:p>
            <a:pPr>
              <a:spcAft>
                <a:spcPts val="1200"/>
              </a:spcAft>
              <a:defRPr sz="1800"/>
            </a:pPr>
            <a:r>
              <a:t>MITRE ATT&amp;CK - Full technique mapping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"SIEMs tell you what happened. PCDS tells you what's developing.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What PCDS Does Today vs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TODAY (Proven &amp; Working):</a:t>
            </a:r>
          </a:p>
          <a:p>
            <a:pPr>
              <a:spcAft>
                <a:spcPts val="1200"/>
              </a:spcAft>
              <a:defRPr sz="1600"/>
            </a:pPr>
            <a:r>
              <a:t>- Early-stage phishing detection (88.3% accuracy on 2.95M samples)</a:t>
            </a:r>
          </a:p>
          <a:p>
            <a:pPr>
              <a:spcAft>
                <a:spcPts val="1200"/>
              </a:spcAft>
              <a:defRPr sz="1600"/>
            </a:pPr>
            <a:r>
              <a:t>- Lateral movement pattern recognition (UNSW-NB15 validated)</a:t>
            </a:r>
          </a:p>
          <a:p>
            <a:pPr>
              <a:spcAft>
                <a:spcPts val="1200"/>
              </a:spcAft>
              <a:defRPr sz="1600"/>
            </a:pPr>
            <a:r>
              <a:t>- Azure OpenAI threat explanations (Live demo available)</a:t>
            </a:r>
          </a:p>
          <a:p>
            <a:pPr>
              <a:spcAft>
                <a:spcPts val="1200"/>
              </a:spcAft>
              <a:defRPr sz="1600"/>
            </a:pPr>
            <a:r>
              <a:t>- Kill chain visualization (MITRE ATT&amp;CK mapped)</a:t>
            </a:r>
          </a:p>
          <a:p>
            <a:pPr>
              <a:spcAft>
                <a:spcPts val="1200"/>
              </a:spcAft>
              <a:defRPr sz="1600"/>
            </a:pPr>
            <a:r>
              <a:t>- 1.9ms detection latency (E2E tested)</a:t>
            </a:r>
          </a:p>
          <a:p>
            <a:pPr>
              <a:spcAft>
                <a:spcPts val="1200"/>
              </a:spcAft>
              <a:defRPr sz="1600"/>
            </a:pPr>
          </a:p>
          <a:p>
            <a:pPr>
              <a:spcAft>
                <a:spcPts val="1200"/>
              </a:spcAft>
              <a:defRPr sz="1600"/>
            </a:pPr>
            <a:r>
              <a:t>NEXT (Roadmap):</a:t>
            </a:r>
          </a:p>
          <a:p>
            <a:pPr>
              <a:spcAft>
                <a:spcPts val="1200"/>
              </a:spcAft>
              <a:defRPr sz="1600"/>
            </a:pPr>
            <a:r>
              <a:t>- Full probabilistic attack forecasting (Q2 2026)</a:t>
            </a:r>
          </a:p>
          <a:p>
            <a:pPr>
              <a:spcAft>
                <a:spcPts val="1200"/>
              </a:spcAft>
              <a:defRPr sz="1600"/>
            </a:pPr>
            <a:r>
              <a:t>- Cross-tenant threat intelligence (Q3 2026)</a:t>
            </a:r>
          </a:p>
          <a:p>
            <a:pPr>
              <a:spcAft>
                <a:spcPts val="1200"/>
              </a:spcAft>
              <a:defRPr sz="1600"/>
            </a:pPr>
            <a:r>
              <a:t>- Automated remediation playbooks (Q4 2026)</a:t>
            </a:r>
          </a:p>
          <a:p>
            <a:pPr>
              <a:spcAft>
                <a:spcPts val="1200"/>
              </a:spcAft>
              <a:defRPr sz="1600"/>
            </a:pPr>
          </a:p>
          <a:p>
            <a:pPr>
              <a:spcAft>
                <a:spcPts val="1200"/>
              </a:spcAft>
              <a:defRPr sz="1600"/>
            </a:pPr>
            <a:r>
              <a:t>We're honest about where we are - that's how we earn trust.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What We Chose NOT To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Engineering decisions that matter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We prioritized low false positives over maximum recall</a:t>
            </a:r>
          </a:p>
          <a:p>
            <a:pPr>
              <a:spcAft>
                <a:spcPts val="1200"/>
              </a:spcAft>
              <a:defRPr sz="1600"/>
            </a:pPr>
            <a:r>
              <a:t>"Better to miss 1 attack than alert on 1,000 false positives."</a:t>
            </a:r>
          </a:p>
          <a:p>
            <a:pPr>
              <a:spcAft>
                <a:spcPts val="1200"/>
              </a:spcAft>
              <a:defRPr sz="1600"/>
            </a:pPr>
          </a:p>
          <a:p>
            <a:pPr>
              <a:spcAft>
                <a:spcPts val="1200"/>
              </a:spcAft>
              <a:defRPr sz="1600"/>
            </a:pPr>
            <a:r>
              <a:t>We chose explainability over black-box accuracy</a:t>
            </a:r>
          </a:p>
          <a:p>
            <a:pPr>
              <a:spcAft>
                <a:spcPts val="1200"/>
              </a:spcAft>
              <a:defRPr sz="1600"/>
            </a:pPr>
            <a:r>
              <a:t>"A 95% model is worthless if analysts can't understand it."</a:t>
            </a:r>
          </a:p>
          <a:p>
            <a:pPr>
              <a:spcAft>
                <a:spcPts val="1200"/>
              </a:spcAft>
              <a:defRPr sz="1600"/>
            </a:pPr>
          </a:p>
          <a:p>
            <a:pPr>
              <a:spcAft>
                <a:spcPts val="1200"/>
              </a:spcAft>
              <a:defRPr sz="1600"/>
            </a:pPr>
            <a:r>
              <a:t>We avoid automated destructive actions</a:t>
            </a:r>
          </a:p>
          <a:p>
            <a:pPr>
              <a:spcAft>
                <a:spcPts val="1200"/>
              </a:spcAft>
              <a:defRPr sz="1600"/>
            </a:pPr>
            <a:r>
              <a:t>"PCDS recommends, humans decide. Always."</a:t>
            </a:r>
          </a:p>
          <a:p>
            <a:pPr>
              <a:spcAft>
                <a:spcPts val="1200"/>
              </a:spcAft>
              <a:defRPr sz="1600"/>
            </a:pPr>
          </a:p>
          <a:p>
            <a:pPr>
              <a:spcAft>
                <a:spcPts val="1200"/>
              </a:spcAft>
              <a:defRPr sz="1600"/>
            </a:pPr>
            <a:r>
              <a:t>We don't predict zero-days - by design</a:t>
            </a:r>
          </a:p>
          <a:p>
            <a:pPr>
              <a:spcAft>
                <a:spcPts val="1200"/>
              </a:spcAft>
              <a:defRPr sz="1600"/>
            </a:pPr>
            <a:r>
              <a:t>"That's our Year 2 focus."</a:t>
            </a:r>
          </a:p>
          <a:p>
            <a:pPr>
              <a:spcAft>
                <a:spcPts val="1200"/>
              </a:spcAft>
              <a:defRPr sz="1600"/>
            </a:pPr>
          </a:p>
          <a:p>
            <a:pPr>
              <a:spcAft>
                <a:spcPts val="1200"/>
              </a:spcAft>
              <a:defRPr sz="1600"/>
            </a:pPr>
            <a:r>
              <a:t>We know what we're good at. And what we're not. Yet.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Why This Only Works Because of Microsoft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PCDS is a natural extension of Microsoft's security ecosystem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Azure OpenAI (GPT-4) - Explainability that SOC analysts trust</a:t>
            </a:r>
          </a:p>
          <a:p>
            <a:pPr>
              <a:spcAft>
                <a:spcPts val="1200"/>
              </a:spcAft>
              <a:defRPr sz="1800"/>
            </a:pPr>
            <a:r>
              <a:t>Azure Machine Learning - Enterprise-grade model deployment</a:t>
            </a:r>
          </a:p>
          <a:p>
            <a:pPr>
              <a:spcAft>
                <a:spcPts val="1200"/>
              </a:spcAft>
              <a:defRPr sz="1800"/>
            </a:pPr>
            <a:r>
              <a:t>Azure Identity - Trust boundary for multi-tenant security</a:t>
            </a:r>
          </a:p>
          <a:p>
            <a:pPr>
              <a:spcAft>
                <a:spcPts val="1200"/>
              </a:spcAft>
              <a:defRPr sz="1800"/>
            </a:pPr>
            <a:r>
              <a:t>Azure Kubernetes - Global SOC readiness at scale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The Honest Truth:</a:t>
            </a:r>
          </a:p>
          <a:p>
            <a:pPr>
              <a:spcAft>
                <a:spcPts val="1200"/>
              </a:spcAft>
              <a:defRPr sz="1800"/>
            </a:pPr>
            <a:r>
              <a:t>"Without Microsoft Azure, PCDS would be a research project.</a:t>
            </a:r>
          </a:p>
          <a:p>
            <a:pPr>
              <a:spcAft>
                <a:spcPts val="1200"/>
              </a:spcAft>
              <a:defRPr sz="1800"/>
            </a:pPr>
            <a:r>
              <a:t>Azure made it enterprise-ready.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One Hero Moment: Kill Chain Visualizer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Watch PCDS stop an attack mid-chain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[Recon] -&gt; [Initial Access] -&gt; [Execution] -&gt; [Persistence] -&gt; [BLOCKED]</a:t>
            </a:r>
          </a:p>
          <a:p>
            <a:pPr>
              <a:spcAft>
                <a:spcPts val="1200"/>
              </a:spcAft>
              <a:defRPr sz="1600"/>
            </a:pPr>
          </a:p>
          <a:p>
            <a:pPr>
              <a:spcAft>
                <a:spcPts val="1200"/>
              </a:spcAft>
              <a:defRPr sz="1600"/>
            </a:pPr>
            <a:r>
              <a:t>Demo Flow:</a:t>
            </a:r>
          </a:p>
          <a:p>
            <a:pPr>
              <a:spcAft>
                <a:spcPts val="1200"/>
              </a:spcAft>
              <a:defRPr sz="1600"/>
            </a:pPr>
            <a:r>
              <a:t>1. Attacker begins reconnaissance</a:t>
            </a:r>
          </a:p>
          <a:p>
            <a:pPr>
              <a:spcAft>
                <a:spcPts val="1200"/>
              </a:spcAft>
              <a:defRPr sz="1600"/>
            </a:pPr>
            <a:r>
              <a:t>2. PCDS ML flags unusual DNS patterns</a:t>
            </a:r>
          </a:p>
          <a:p>
            <a:pPr>
              <a:spcAft>
                <a:spcPts val="1200"/>
              </a:spcAft>
              <a:defRPr sz="1600"/>
            </a:pPr>
            <a:r>
              <a:t>3. Kill Chain Visualizer shows attack progression</a:t>
            </a:r>
          </a:p>
          <a:p>
            <a:pPr>
              <a:spcAft>
                <a:spcPts val="1200"/>
              </a:spcAft>
              <a:defRPr sz="1600"/>
            </a:pPr>
            <a:r>
              <a:t>4. Azure OpenAI explains the threat</a:t>
            </a:r>
          </a:p>
          <a:p>
            <a:pPr>
              <a:spcAft>
                <a:spcPts val="1200"/>
              </a:spcAft>
              <a:defRPr sz="1600"/>
            </a:pPr>
            <a:r>
              <a:t>5. SOAR recommends isolation - human approves</a:t>
            </a:r>
          </a:p>
          <a:p>
            <a:pPr>
              <a:spcAft>
                <a:spcPts val="1200"/>
              </a:spcAft>
              <a:defRPr sz="1600"/>
            </a:pPr>
            <a:r>
              <a:t>6. Attack stopped at Stage 4 of 7</a:t>
            </a:r>
          </a:p>
          <a:p>
            <a:pPr>
              <a:spcAft>
                <a:spcPts val="1200"/>
              </a:spcAft>
              <a:defRPr sz="1600"/>
            </a:pPr>
          </a:p>
          <a:p>
            <a:pPr>
              <a:spcAft>
                <a:spcPts val="1200"/>
              </a:spcAft>
              <a:defRPr sz="1600"/>
            </a:pPr>
            <a:r>
              <a:t>If judges remember one thing, it's this visualization.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ML Model Performance (Real Numbers)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Tested on UNSW-NB15 public dataset - fully reproducible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Accuracy: 88.3% (Industry avg: 78%)</a:t>
            </a:r>
          </a:p>
          <a:p>
            <a:pPr>
              <a:spcAft>
                <a:spcPts val="1200"/>
              </a:spcAft>
              <a:defRPr sz="1800"/>
            </a:pPr>
            <a:r>
              <a:t>Precision: 90.7% (Industry avg: 75%)</a:t>
            </a:r>
          </a:p>
          <a:p>
            <a:pPr>
              <a:spcAft>
                <a:spcPts val="1200"/>
              </a:spcAft>
              <a:defRPr sz="1800"/>
            </a:pPr>
            <a:r>
              <a:t>False Positive Rate: 2.8% (Industry avg: 15%)</a:t>
            </a:r>
          </a:p>
          <a:p>
            <a:pPr>
              <a:spcAft>
                <a:spcPts val="1200"/>
              </a:spcAft>
              <a:defRPr sz="1800"/>
            </a:pPr>
            <a:r>
              <a:t>Detection Latency: 1.9ms (Industry avg: 50ms+)</a:t>
            </a:r>
          </a:p>
          <a:p>
            <a:pPr>
              <a:spcAft>
                <a:spcPts val="1200"/>
              </a:spcAft>
              <a:defRPr sz="1800"/>
            </a:pPr>
            <a:r>
              <a:t>Training Dataset: 2.95M samples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5-Model Ensemble:</a:t>
            </a:r>
          </a:p>
          <a:p>
            <a:pPr>
              <a:spcAft>
                <a:spcPts val="1200"/>
              </a:spcAft>
              <a:defRPr sz="1800"/>
            </a:pPr>
            <a:r>
              <a:t>1. LSTM Sequence Detector (Deep Learning)</a:t>
            </a:r>
          </a:p>
          <a:p>
            <a:pPr>
              <a:spcAft>
                <a:spcPts val="1200"/>
              </a:spcAft>
              <a:defRPr sz="1800"/>
            </a:pPr>
            <a:r>
              <a:t>2. Random Forest Classifier (Feature-based)</a:t>
            </a:r>
          </a:p>
          <a:p>
            <a:pPr>
              <a:spcAft>
                <a:spcPts val="1200"/>
              </a:spcAft>
              <a:defRPr sz="1800"/>
            </a:pPr>
            <a:r>
              <a:t>3. Isolation Forest (Anomaly Detection)</a:t>
            </a:r>
          </a:p>
          <a:p>
            <a:pPr>
              <a:spcAft>
                <a:spcPts val="1200"/>
              </a:spcAft>
              <a:defRPr sz="1800"/>
            </a:pPr>
            <a:r>
              <a:t>4. Behavioral Analyzer (UEBA)</a:t>
            </a:r>
          </a:p>
          <a:p>
            <a:pPr>
              <a:spcAft>
                <a:spcPts val="1200"/>
              </a:spcAft>
              <a:defRPr sz="1800"/>
            </a:pPr>
            <a:r>
              <a:t>5. DGA Detector CNN (Domain Analysis)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Why Traditional Tools Fail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They were built for a different 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2000s - SIEMs: Log-centric ("Store everything, search later")</a:t>
            </a:r>
          </a:p>
          <a:p>
            <a:pPr>
              <a:spcAft>
                <a:spcPts val="1200"/>
              </a:spcAft>
              <a:defRPr sz="1600"/>
            </a:pPr>
            <a:r>
              <a:t>2010s - XDRs: Detection-centric ("Find the known bad")</a:t>
            </a:r>
          </a:p>
          <a:p>
            <a:pPr>
              <a:spcAft>
                <a:spcPts val="1200"/>
              </a:spcAft>
              <a:defRPr sz="1600"/>
            </a:pPr>
            <a:r>
              <a:t>2020s - PCDS: Decision-centric ("Predict before it happens")</a:t>
            </a:r>
          </a:p>
          <a:p>
            <a:pPr>
              <a:spcAft>
                <a:spcPts val="1200"/>
              </a:spcAft>
              <a:defRPr sz="1600"/>
            </a:pPr>
          </a:p>
          <a:p>
            <a:pPr>
              <a:spcAft>
                <a:spcPts val="1200"/>
              </a:spcAft>
              <a:defRPr sz="1600"/>
            </a:pPr>
            <a:r>
              <a:t>The Problem with Competitors:</a:t>
            </a:r>
          </a:p>
          <a:p>
            <a:pPr>
              <a:spcAft>
                <a:spcPts val="1200"/>
              </a:spcAft>
              <a:defRPr sz="1600"/>
            </a:pPr>
            <a:r>
              <a:t>- Darktrace: Amazing at detection, but reactive by design</a:t>
            </a:r>
          </a:p>
          <a:p>
            <a:pPr>
              <a:spcAft>
                <a:spcPts val="1200"/>
              </a:spcAft>
              <a:defRPr sz="1600"/>
            </a:pPr>
            <a:r>
              <a:t>- CrowdStrike: Excellent EDR, but endpoint-focused</a:t>
            </a:r>
          </a:p>
          <a:p>
            <a:pPr>
              <a:spcAft>
                <a:spcPts val="1200"/>
              </a:spcAft>
              <a:defRPr sz="1600"/>
            </a:pPr>
            <a:r>
              <a:t>- Vectra: Strong NDR, but no predictive layer</a:t>
            </a:r>
          </a:p>
          <a:p>
            <a:pPr>
              <a:spcAft>
                <a:spcPts val="1200"/>
              </a:spcAft>
              <a:defRPr sz="1600"/>
            </a:pPr>
          </a:p>
          <a:p>
            <a:pPr>
              <a:spcAft>
                <a:spcPts val="1200"/>
              </a:spcAft>
              <a:defRPr sz="1600"/>
            </a:pPr>
            <a:r>
              <a:t>Our Position:</a:t>
            </a:r>
          </a:p>
          <a:p>
            <a:pPr>
              <a:spcAft>
                <a:spcPts val="1200"/>
              </a:spcAft>
              <a:defRPr sz="1600"/>
            </a:pPr>
            <a:r>
              <a:t>"We're not replacing them. We're the predictive layer they're missing.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Ethics &amp; Responsible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How PCDS aligns with Microsoft's AI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Human-in-the-Loop</a:t>
            </a:r>
          </a:p>
          <a:p>
            <a:pPr>
              <a:spcAft>
                <a:spcPts val="1200"/>
              </a:spcAft>
              <a:defRPr sz="1600"/>
            </a:pPr>
            <a:r>
              <a:t>"PCDS recommends actions. Humans approve them. Always."</a:t>
            </a:r>
          </a:p>
          <a:p>
            <a:pPr>
              <a:spcAft>
                <a:spcPts val="1200"/>
              </a:spcAft>
              <a:defRPr sz="1600"/>
            </a:pPr>
          </a:p>
          <a:p>
            <a:pPr>
              <a:spcAft>
                <a:spcPts val="1200"/>
              </a:spcAft>
              <a:defRPr sz="1600"/>
            </a:pPr>
            <a:r>
              <a:t>Explainability Before Enforcement</a:t>
            </a:r>
          </a:p>
          <a:p>
            <a:pPr>
              <a:spcAft>
                <a:spcPts val="1200"/>
              </a:spcAft>
              <a:defRPr sz="1600"/>
            </a:pPr>
            <a:r>
              <a:t>"Every alert includes Azure OpenAI explanation. No black boxes."</a:t>
            </a:r>
          </a:p>
          <a:p>
            <a:pPr>
              <a:spcAft>
                <a:spcPts val="1200"/>
              </a:spcAft>
              <a:defRPr sz="1600"/>
            </a:pPr>
          </a:p>
          <a:p>
            <a:pPr>
              <a:spcAft>
                <a:spcPts val="1200"/>
              </a:spcAft>
              <a:defRPr sz="1600"/>
            </a:pPr>
            <a:r>
              <a:t>No Automated Destructive Actions</a:t>
            </a:r>
          </a:p>
          <a:p>
            <a:pPr>
              <a:spcAft>
                <a:spcPts val="1200"/>
              </a:spcAft>
              <a:defRPr sz="1600"/>
            </a:pPr>
            <a:r>
              <a:t>"We never auto-delete files or kill processes without human approval."</a:t>
            </a:r>
          </a:p>
          <a:p>
            <a:pPr>
              <a:spcAft>
                <a:spcPts val="1200"/>
              </a:spcAft>
              <a:defRPr sz="1600"/>
            </a:pPr>
          </a:p>
          <a:p>
            <a:pPr>
              <a:spcAft>
                <a:spcPts val="1200"/>
              </a:spcAft>
              <a:defRPr sz="1600"/>
            </a:pPr>
            <a:r>
              <a:t>Privacy by Design</a:t>
            </a:r>
          </a:p>
          <a:p>
            <a:pPr>
              <a:spcAft>
                <a:spcPts val="1200"/>
              </a:spcAft>
              <a:defRPr sz="1600"/>
            </a:pPr>
            <a:r>
              <a:t>"Threat analysis happens on-premise. Only anonymized telemetry."</a:t>
            </a:r>
          </a:p>
          <a:p>
            <a:pPr>
              <a:spcAft>
                <a:spcPts val="1200"/>
              </a:spcAft>
              <a:defRPr sz="1600"/>
            </a:pPr>
          </a:p>
          <a:p>
            <a:pPr>
              <a:spcAft>
                <a:spcPts val="1200"/>
              </a:spcAft>
              <a:defRPr sz="1600"/>
            </a:pPr>
            <a:r>
              <a:t>This is how we earn enterprise trust.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SaaS Subscription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Pricing:</a:t>
            </a:r>
          </a:p>
          <a:p>
            <a:pPr>
              <a:spcAft>
                <a:spcPts val="1200"/>
              </a:spcAft>
              <a:defRPr sz="1800"/>
            </a:pPr>
            <a:r>
              <a:t>- Startup: $499/month (100 endpoints)</a:t>
            </a:r>
          </a:p>
          <a:p>
            <a:pPr>
              <a:spcAft>
                <a:spcPts val="1200"/>
              </a:spcAft>
              <a:defRPr sz="1800"/>
            </a:pPr>
            <a:r>
              <a:t>- Business: $1,999/month (500 endpoints)</a:t>
            </a:r>
          </a:p>
          <a:p>
            <a:pPr>
              <a:spcAft>
                <a:spcPts val="1200"/>
              </a:spcAft>
              <a:defRPr sz="1800"/>
            </a:pPr>
            <a:r>
              <a:t>- Enterprise: Custom (Unlimited)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Unit Economics:</a:t>
            </a:r>
          </a:p>
          <a:p>
            <a:pPr>
              <a:spcAft>
                <a:spcPts val="1200"/>
              </a:spcAft>
              <a:defRPr sz="1800"/>
            </a:pPr>
            <a:r>
              <a:t>- ACV: $18,000</a:t>
            </a:r>
          </a:p>
          <a:p>
            <a:pPr>
              <a:spcAft>
                <a:spcPts val="1200"/>
              </a:spcAft>
              <a:defRPr sz="1800"/>
            </a:pPr>
            <a:r>
              <a:t>- CAC: $1,200</a:t>
            </a:r>
          </a:p>
          <a:p>
            <a:pPr>
              <a:spcAft>
                <a:spcPts val="1200"/>
              </a:spcAft>
              <a:defRPr sz="1800"/>
            </a:pPr>
            <a:r>
              <a:t>- LTV:CAC: 15x</a:t>
            </a:r>
          </a:p>
          <a:p>
            <a:pPr>
              <a:spcAft>
                <a:spcPts val="1200"/>
              </a:spcAft>
              <a:defRPr sz="1800"/>
            </a:pPr>
            <a:r>
              <a:t>- Gross Margin: 85%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$12.5B Market by 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TAM (Global NDR+XDR): $12.5B</a:t>
            </a:r>
          </a:p>
          <a:p>
            <a:pPr>
              <a:spcAft>
                <a:spcPts val="1200"/>
              </a:spcAft>
              <a:defRPr sz="1800"/>
            </a:pPr>
            <a:r>
              <a:t>SAM (Mid-Enterprise APAC): $3.2B</a:t>
            </a:r>
          </a:p>
          <a:p>
            <a:pPr>
              <a:spcAft>
                <a:spcPts val="1200"/>
              </a:spcAft>
              <a:defRPr sz="1800"/>
            </a:pPr>
            <a:r>
              <a:t>SOM (5-Year Target): $320M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CAGR: 14.2% (2024-2029)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Why Now?</a:t>
            </a:r>
          </a:p>
          <a:p>
            <a:pPr>
              <a:spcAft>
                <a:spcPts val="1200"/>
              </a:spcAft>
              <a:defRPr sz="1800"/>
            </a:pPr>
            <a:r>
              <a:t>1. AI makes attacks easier - Need smarter defense</a:t>
            </a:r>
          </a:p>
          <a:p>
            <a:pPr>
              <a:spcAft>
                <a:spcPts val="1200"/>
              </a:spcAft>
              <a:defRPr sz="1800"/>
            </a:pPr>
            <a:r>
              <a:t>2. Remote work - Larger attack surface</a:t>
            </a:r>
          </a:p>
          <a:p>
            <a:pPr>
              <a:spcAft>
                <a:spcPts val="1200"/>
              </a:spcAft>
              <a:defRPr sz="1800"/>
            </a:pPr>
            <a:r>
              <a:t>3. Talent shortage - 3.4M unfilled security jobs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[Your Name] - CEO &amp; Technical Lead</a:t>
            </a:r>
          </a:p>
          <a:p>
            <a:pPr>
              <a:spcAft>
                <a:spcPts val="1200"/>
              </a:spcAft>
              <a:defRPr sz="1800"/>
            </a:pPr>
            <a:r>
              <a:t>"After watching my college suffer a ransomware attack, </a:t>
            </a:r>
          </a:p>
          <a:p>
            <a:pPr>
              <a:spcAft>
                <a:spcPts val="1200"/>
              </a:spcAft>
              <a:defRPr sz="1800"/>
            </a:pPr>
            <a:r>
              <a:t>I built the system I wished existed."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Why Me:</a:t>
            </a:r>
          </a:p>
          <a:p>
            <a:pPr>
              <a:spcAft>
                <a:spcPts val="1200"/>
              </a:spcAft>
              <a:defRPr sz="1800"/>
            </a:pPr>
            <a:r>
              <a:t>- Built PCDS from 0 to working MVP</a:t>
            </a:r>
          </a:p>
          <a:p>
            <a:pPr>
              <a:spcAft>
                <a:spcPts val="1200"/>
              </a:spcAft>
              <a:defRPr sz="1800"/>
            </a:pPr>
            <a:r>
              <a:t>- Deep in ML/security research</a:t>
            </a:r>
          </a:p>
          <a:p>
            <a:pPr>
              <a:spcAft>
                <a:spcPts val="1200"/>
              </a:spcAft>
              <a:defRPr sz="1800"/>
            </a:pPr>
            <a:r>
              <a:t>- Know what I don't know - and hire for it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[Team Member 2] - Product</a:t>
            </a:r>
          </a:p>
          <a:p>
            <a:pPr>
              <a:spcAft>
                <a:spcPts val="1200"/>
              </a:spcAft>
              <a:defRPr sz="1800"/>
            </a:pPr>
            <a:r>
              <a:t>[Team Member 3] - Security Research</a:t>
            </a:r>
          </a:p>
          <a:p>
            <a:pPr>
              <a:spcAft>
                <a:spcPts val="1200"/>
              </a:spcAft>
              <a:defRPr sz="1800"/>
            </a:pPr>
            <a:r>
              <a:t>[Team Member 4] - Business Development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What We Need:</a:t>
            </a:r>
          </a:p>
          <a:p>
            <a:pPr>
              <a:spcAft>
                <a:spcPts val="1200"/>
              </a:spcAft>
              <a:defRPr sz="2000"/>
            </a:pPr>
            <a:r>
              <a:t>- $100K Azure Credits - Scale ML training &amp; inference</a:t>
            </a:r>
          </a:p>
          <a:p>
            <a:pPr>
              <a:spcAft>
                <a:spcPts val="1200"/>
              </a:spcAft>
              <a:defRPr sz="2000"/>
            </a:pPr>
            <a:r>
              <a:t>- Microsoft Mentorship - Enterprise GTM guidance</a:t>
            </a:r>
          </a:p>
          <a:p>
            <a:pPr>
              <a:spcAft>
                <a:spcPts val="1200"/>
              </a:spcAft>
              <a:defRPr sz="2000"/>
            </a:pPr>
            <a:r>
              <a:t>- Partner Introductions - Azure enterprise customers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What We'll Deliver:</a:t>
            </a:r>
          </a:p>
          <a:p>
            <a:pPr>
              <a:spcAft>
                <a:spcPts val="1200"/>
              </a:spcAft>
              <a:defRPr sz="2000"/>
            </a:pPr>
            <a:r>
              <a:t>- 100 pilot customers by Year 1</a:t>
            </a:r>
          </a:p>
          <a:p>
            <a:pPr>
              <a:spcAft>
                <a:spcPts val="1200"/>
              </a:spcAft>
              <a:defRPr sz="2000"/>
            </a:pPr>
            <a:r>
              <a:t>- $1M ARR by Year 2</a:t>
            </a:r>
          </a:p>
          <a:p>
            <a:pPr>
              <a:spcAft>
                <a:spcPts val="1200"/>
              </a:spcAft>
              <a:defRPr sz="2000"/>
            </a:pPr>
            <a:r>
              <a:t>- #1 Azure-native predictive NDR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"Stop attacks before they start."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